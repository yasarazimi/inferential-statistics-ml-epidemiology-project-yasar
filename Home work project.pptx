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6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7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8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96" r:id="rId3"/>
    <p:sldMasterId id="2147483708" r:id="rId4"/>
    <p:sldMasterId id="2147483726" r:id="rId5"/>
    <p:sldMasterId id="2147483743" r:id="rId6"/>
    <p:sldMasterId id="2147483761" r:id="rId7"/>
    <p:sldMasterId id="2147483779" r:id="rId8"/>
    <p:sldMasterId id="2147483797" r:id="rId9"/>
  </p:sldMasterIdLst>
  <p:notesMasterIdLst>
    <p:notesMasterId r:id="rId28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5" r:id="rId18"/>
    <p:sldId id="266" r:id="rId19"/>
    <p:sldId id="267" r:id="rId20"/>
    <p:sldId id="264" r:id="rId21"/>
    <p:sldId id="268" r:id="rId22"/>
    <p:sldId id="273" r:id="rId23"/>
    <p:sldId id="269" r:id="rId24"/>
    <p:sldId id="270" r:id="rId25"/>
    <p:sldId id="272" r:id="rId26"/>
    <p:sldId id="27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9824F-71FA-42AA-9DF7-B369FDFAAB1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0866E-E2B1-4DCA-A58D-9D4A16A80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44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A0866E-E2B1-4DCA-A58D-9D4A16A804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92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463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9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89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8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10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952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5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47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6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1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483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229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88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127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937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598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698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918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309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596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06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5104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6937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979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554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685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01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7289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3587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195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6881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52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887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0598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547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310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4428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351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46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495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94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16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4094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553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763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813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764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490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942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950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981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695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222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380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377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208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73260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30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749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299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8984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598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8480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584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0808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3145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53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3585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147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7455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225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6911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2651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741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3523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83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165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2427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6515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5380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5903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41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6690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3753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7479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6044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7715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2161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3316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540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7498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1543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6416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4128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7209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42969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1092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756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3098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30030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37934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6468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09365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3936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9593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6858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2008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4079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3796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79598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01117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64550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4214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10993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195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0102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5005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991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655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02452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0810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5117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1693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9662082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3837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48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0995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9930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2768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088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6018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4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0287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363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8970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9816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3962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70236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9749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7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8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image" Target="../media/image1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88.xml"/><Relationship Id="rId19" Type="http://schemas.openxmlformats.org/officeDocument/2006/relationships/image" Target="../media/image8.jpeg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13" Type="http://schemas.openxmlformats.org/officeDocument/2006/relationships/slideLayout" Target="../slideLayouts/slideLayout108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07.xml"/><Relationship Id="rId17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97.xml"/><Relationship Id="rId16" Type="http://schemas.openxmlformats.org/officeDocument/2006/relationships/slideLayout" Target="../slideLayouts/slideLayout111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Relationship Id="rId14" Type="http://schemas.openxmlformats.org/officeDocument/2006/relationships/slideLayout" Target="../slideLayouts/slideLayout10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2.xml"/><Relationship Id="rId19" Type="http://schemas.openxmlformats.org/officeDocument/2006/relationships/image" Target="../media/image14.png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0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7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6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930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4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5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42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382E3F4-87E7-438C-8A4C-201C21ECB9A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A3E4120B-298F-4C8E-A4A2-A3934AB5D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119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0-387-84858-7" TargetMode="External"/><Relationship Id="rId2" Type="http://schemas.openxmlformats.org/officeDocument/2006/relationships/hyperlink" Target="https://doi.org/10.1016/j.annepidem.2025.07.024" TargetMode="External"/><Relationship Id="rId1" Type="http://schemas.openxmlformats.org/officeDocument/2006/relationships/slideLayout" Target="../slideLayouts/slideLayout131.xml"/><Relationship Id="rId5" Type="http://schemas.openxmlformats.org/officeDocument/2006/relationships/hyperlink" Target="https://doi.org/10.1146/annurev-publhealth-040119-094437" TargetMode="External"/><Relationship Id="rId4" Type="http://schemas.openxmlformats.org/officeDocument/2006/relationships/hyperlink" Target="https://doi.org/10.1007/s42979-021-00592-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829"/>
            <a:ext cx="9144000" cy="2192383"/>
          </a:xfrm>
        </p:spPr>
        <p:txBody>
          <a:bodyPr>
            <a:normAutofit fontScale="92500"/>
          </a:bodyPr>
          <a:lstStyle/>
          <a:p>
            <a:r>
              <a:rPr lang="en-US" i="1" dirty="0"/>
              <a:t> </a:t>
            </a:r>
            <a:endParaRPr lang="en-US" dirty="0"/>
          </a:p>
          <a:p>
            <a:r>
              <a:rPr lang="tr-TR" b="1" dirty="0"/>
              <a:t>Name</a:t>
            </a:r>
            <a:r>
              <a:rPr lang="en-US" i="1" dirty="0"/>
              <a:t>: </a:t>
            </a:r>
            <a:r>
              <a:rPr lang="tr-TR" i="1" dirty="0"/>
              <a:t>Yasar Azimi</a:t>
            </a:r>
            <a:endParaRPr lang="en-US" dirty="0"/>
          </a:p>
          <a:p>
            <a:r>
              <a:rPr lang="en-US" b="1" i="1" dirty="0"/>
              <a:t>Subject</a:t>
            </a:r>
            <a:r>
              <a:rPr lang="en-US" i="1" dirty="0"/>
              <a:t>: </a:t>
            </a:r>
            <a:r>
              <a:rPr lang="tr-TR" i="1" dirty="0"/>
              <a:t>ÇIKARIMSAL İSTATİSTİK (INFERENTIAL STATISTICS)</a:t>
            </a:r>
            <a:endParaRPr lang="en-US" dirty="0"/>
          </a:p>
          <a:p>
            <a:r>
              <a:rPr lang="en-US" b="1" i="1" dirty="0"/>
              <a:t>Project</a:t>
            </a:r>
            <a:r>
              <a:rPr lang="en-US" i="1" dirty="0"/>
              <a:t>: </a:t>
            </a:r>
            <a:r>
              <a:rPr lang="en-US" b="1" dirty="0"/>
              <a:t>Critical Analysis Report: Enhancing Epidemiological Prediction of Near-</a:t>
            </a:r>
            <a:r>
              <a:rPr lang="en-US" b="1" dirty="0" err="1"/>
              <a:t>Centenarianism</a:t>
            </a:r>
            <a:r>
              <a:rPr lang="en-US" b="1" dirty="0"/>
              <a:t> via Machine Learning – A Comparative Evaluation and Extension of </a:t>
            </a:r>
            <a:r>
              <a:rPr lang="en-US" b="1" dirty="0" err="1"/>
              <a:t>Atias</a:t>
            </a:r>
            <a:r>
              <a:rPr lang="en-US" b="1" dirty="0"/>
              <a:t> et al. (2025)</a:t>
            </a:r>
            <a:endParaRPr lang="en-US" dirty="0"/>
          </a:p>
          <a:p>
            <a:r>
              <a:rPr lang="en-US" b="1" i="1" dirty="0"/>
              <a:t>Teacher</a:t>
            </a:r>
            <a:r>
              <a:rPr lang="en-US" i="1" dirty="0"/>
              <a:t>: </a:t>
            </a:r>
            <a:r>
              <a:rPr lang="en-US" dirty="0" err="1"/>
              <a:t>Dr.Öğr.Üyesi</a:t>
            </a:r>
            <a:r>
              <a:rPr lang="en-US" dirty="0"/>
              <a:t> SUNUSİ BALA ABDULLAHİ</a:t>
            </a:r>
          </a:p>
          <a:p>
            <a:r>
              <a:rPr lang="en-US" b="1" i="1" dirty="0"/>
              <a:t>Date</a:t>
            </a:r>
            <a:r>
              <a:rPr lang="en-US" i="1" dirty="0"/>
              <a:t>: 3/24/2026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9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04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023" y="2556932"/>
            <a:ext cx="10511246" cy="3318936"/>
          </a:xfrm>
        </p:spPr>
        <p:txBody>
          <a:bodyPr>
            <a:noAutofit/>
          </a:bodyPr>
          <a:lstStyle/>
          <a:p>
            <a:pPr algn="just"/>
            <a:r>
              <a:rPr lang="en-US" sz="1600" dirty="0" smtClean="0"/>
              <a:t>The </a:t>
            </a:r>
            <a:r>
              <a:rPr lang="en-US" sz="1600" dirty="0"/>
              <a:t>integration of machine learning (ML) into epidemiological research marks a fundamental paradigm shift from the rigid parametric assumptions of traditional generalized linear models to flexible, non-parametric architectures that excel at modeling high-order interactions and non-</a:t>
            </a:r>
            <a:r>
              <a:rPr lang="en-US" sz="1600" dirty="0" err="1"/>
              <a:t>linearities</a:t>
            </a:r>
            <a:r>
              <a:rPr lang="en-US" sz="1600" dirty="0"/>
              <a:t> in high-dimensional biomedical datasets. </a:t>
            </a:r>
          </a:p>
          <a:p>
            <a:pPr algn="just"/>
            <a:r>
              <a:rPr lang="en-US" sz="1600" dirty="0"/>
              <a:t>The focal paper by </a:t>
            </a:r>
            <a:r>
              <a:rPr lang="en-US" sz="1600" dirty="0" err="1"/>
              <a:t>Atias</a:t>
            </a:r>
            <a:r>
              <a:rPr lang="en-US" sz="1600" dirty="0"/>
              <a:t> et al. (Annals of Epidemiology, 2025) exemplifies this transition by conducting a rigorous head-to-head comparison of logistic regression (LR), L1-penalized least absolute shrinkage and selection operator (LASSO) regression, and extreme gradient boosting (XGBoost) for predicting near-</a:t>
            </a:r>
            <a:r>
              <a:rPr lang="en-US" sz="1600" dirty="0" err="1"/>
              <a:t>centenarianism</a:t>
            </a:r>
            <a:r>
              <a:rPr lang="en-US" sz="1600" dirty="0"/>
              <a:t> (attainment of age ≥95 years) from midlife covariates in a historical Israeli male cohort (N≈10,000, recruitment 1963, follow-up to 2019). This report systematically dissects the methodological scaffolding, performance metrics, and interpretability apparatus of the study, while imposing rigorous limitations on derived claims, formulating an independent hypothesis, identifying a salient research gap, and proposing an innovative extension. </a:t>
            </a:r>
          </a:p>
          <a:p>
            <a:pPr algn="just"/>
            <a:r>
              <a:rPr lang="en-US" sz="1600" dirty="0"/>
              <a:t>All analyses adhere to principles of statistical rigor, including bootstrap inference and cross-validation, to ascertain model stability without invoking recurrence or time-to-event dynamics (the outcome being a stable binary terminal state).</a:t>
            </a:r>
          </a:p>
          <a:p>
            <a:pPr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95039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 for Choosing This Paper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/>
              <a:t>Selection </a:t>
            </a:r>
            <a:r>
              <a:rPr lang="en-US" dirty="0"/>
              <a:t>of this manuscript was motivated by its explicit pedagogical framing: it juxtaposes conventional epidemiological modeling (LR) against contemporary ML paradigms (LASSO and XGBoost) within a real-world longevity prediction task, thereby bridging theoretical exposition with empirical validation. </a:t>
            </a:r>
          </a:p>
          <a:p>
            <a:pPr algn="just"/>
            <a:r>
              <a:rPr lang="en-US" dirty="0"/>
              <a:t>Unlike purely methodological reviews, it operationalizes data preprocessing pipelines (summary statistics for longitudinal measures: mean, standard deviation, range), hyperparameter tuning via 10-fold cross-validation (CV), and post-hoc explainability via 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 (SHAP). </a:t>
            </a:r>
          </a:p>
          <a:p>
            <a:pPr algn="just"/>
            <a:r>
              <a:rPr lang="en-US" dirty="0"/>
              <a:t>This aligns with broader literature, such as </a:t>
            </a:r>
            <a:r>
              <a:rPr lang="en-US" dirty="0" err="1"/>
              <a:t>Wiemken</a:t>
            </a:r>
            <a:r>
              <a:rPr lang="en-US" dirty="0"/>
              <a:t> &amp; Kelley (2020) on ML applications in health outcomes research and </a:t>
            </a:r>
            <a:r>
              <a:rPr lang="en-US" dirty="0" err="1"/>
              <a:t>Sarker</a:t>
            </a:r>
            <a:r>
              <a:rPr lang="en-US" dirty="0"/>
              <a:t> (2021) on algorithmic taxonomies, yet extends them by quantifying incremental gains in discriminative capacity (ROC-AUC) and calibration slope. The study’s open-access GitHub repository further facilitates reproducibility, rendering it an exemplar for translational epidemiology.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73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Aim and Objectives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86" y="2052918"/>
            <a:ext cx="11982994" cy="4670099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overarching aim is to evaluate the incremental utility of ensemble ML over traditional methods in imbalanced, high-dimensional epidemiological prediction while proposing extensions to mitigate identified limitations.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Specific </a:t>
            </a:r>
            <a:r>
              <a:rPr lang="en-US" dirty="0"/>
              <a:t>objectives include: </a:t>
            </a:r>
          </a:p>
          <a:p>
            <a:pPr lvl="0" algn="just"/>
            <a:r>
              <a:rPr lang="en-US" dirty="0"/>
              <a:t>Delineation of hypothesis formulation and statistical validation techniques employed; </a:t>
            </a:r>
          </a:p>
          <a:p>
            <a:pPr lvl="0" algn="just"/>
            <a:r>
              <a:rPr lang="en-US" dirty="0"/>
              <a:t>Quantification of model performance differentials with 95% confidence intervals (CIs) and log-likelihood assessments; </a:t>
            </a:r>
          </a:p>
          <a:p>
            <a:pPr lvl="0" algn="just"/>
            <a:r>
              <a:rPr lang="en-US" dirty="0"/>
              <a:t>Identification of a generalizability gap and formulation of a novel longitudinal-causal solution; and </a:t>
            </a:r>
          </a:p>
          <a:p>
            <a:pPr lvl="0" algn="just"/>
            <a:r>
              <a:rPr lang="en-US" dirty="0"/>
              <a:t>Integration of Central Limit Theorem (CLT) theory to underpin bootstrap inference.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63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Significance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/>
              <a:t>demonstrating modest yet statistically detectable superiority of XGBoost (ROC-AUC 0.720, 95% CI: 0.685–0.754) over LR (0.691, 95% CI: 0.655–0.726), the work underscores ML’s capacity to unearth non-monotonic thresholds (e.g., diastolic blood pressure &lt;93 mmHg) without explicit specification, thereby informing precision public health interventions for longevity. Significance is amplified in aging societies, where rare-event prediction (6.9% prevalence) demands robust handling of class imbalance and interactions.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7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160589"/>
            <a:ext cx="9736182" cy="388077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Epidemiological </a:t>
            </a:r>
            <a:r>
              <a:rPr lang="en-US" dirty="0"/>
              <a:t>modeling has historically relied on LR under linearity and independence assumptions, yet confronts p ≫ N scenarios and non-linear covariate interplay (Hastie et al., 2009). </a:t>
            </a:r>
            <a:endParaRPr lang="en-US" dirty="0" smtClean="0"/>
          </a:p>
          <a:p>
            <a:pPr algn="just"/>
            <a:r>
              <a:rPr lang="en-US" dirty="0" smtClean="0"/>
              <a:t>ML </a:t>
            </a:r>
            <a:r>
              <a:rPr lang="en-US" dirty="0"/>
              <a:t>approaches—regularized regression and gradient-boosted trees—relax these constraints, as synthesized in </a:t>
            </a:r>
            <a:r>
              <a:rPr lang="en-US" dirty="0" err="1"/>
              <a:t>Wiemken</a:t>
            </a:r>
            <a:r>
              <a:rPr lang="en-US" dirty="0"/>
              <a:t> &amp; Kelley (2020) and </a:t>
            </a:r>
            <a:r>
              <a:rPr lang="en-US" dirty="0" err="1"/>
              <a:t>Sarker</a:t>
            </a:r>
            <a:r>
              <a:rPr lang="en-US" dirty="0"/>
              <a:t> (2021). </a:t>
            </a:r>
            <a:r>
              <a:rPr lang="en-US" dirty="0" err="1"/>
              <a:t>Atias</a:t>
            </a:r>
            <a:r>
              <a:rPr lang="en-US" dirty="0"/>
              <a:t> et al. operationalize this via midlife predictors (demographics, clinical, lifestyle, occupational, dietary; n=146 post-preprocessing), achieving calibration intercepts ≈0 and slopes ≈0.97–1.22 on test sets. </a:t>
            </a:r>
          </a:p>
          <a:p>
            <a:pPr algn="just"/>
            <a:r>
              <a:rPr lang="en-US" dirty="0"/>
              <a:t>However, a critical research gap emerges: the study’s static, male-only, historical cohort precludes inference on dynamic (time-varying) predictors or female longevity trajectories, limiting external validity amid secular trends in cardiovascular risk management and sex-specific biology. This gap is unaddressed despite acknowledged limitations (cohort inception bias, male predominance).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782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Innovative Idea and Proposed Solution for the Identified Gap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03499"/>
            <a:ext cx="12192000" cy="425450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To </a:t>
            </a:r>
            <a:r>
              <a:rPr lang="en-US" dirty="0"/>
              <a:t>bridge the static-cohort limitation, we propose an innovative hybrid framework: </a:t>
            </a:r>
            <a:r>
              <a:rPr lang="en-US" i="1" dirty="0"/>
              <a:t>Longitudinal Causal XGBoost with Time-Dependent SHAP</a:t>
            </a:r>
            <a:r>
              <a:rPr lang="en-US" dirty="0"/>
              <a:t> (LC-XGBoost-TD).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core idea integrates recurrent structure (e.g., LSTM embedding’s of serial measurements) with double/</a:t>
            </a:r>
            <a:r>
              <a:rPr lang="en-US" dirty="0" err="1"/>
              <a:t>debiased</a:t>
            </a:r>
            <a:r>
              <a:rPr lang="en-US" dirty="0"/>
              <a:t> ML for causal effect estimation of modifiable midlife factors under unmeasured confounding. </a:t>
            </a:r>
            <a:endParaRPr lang="en-US" dirty="0" smtClean="0"/>
          </a:p>
          <a:p>
            <a:pPr algn="just"/>
            <a:r>
              <a:rPr lang="en-US" dirty="0" smtClean="0"/>
              <a:t>Solution </a:t>
            </a:r>
            <a:r>
              <a:rPr lang="en-US" dirty="0"/>
              <a:t>implementation: </a:t>
            </a:r>
            <a:endParaRPr lang="en-US" dirty="0" smtClean="0"/>
          </a:p>
          <a:p>
            <a:pPr algn="just"/>
            <a:r>
              <a:rPr lang="en-US" dirty="0" smtClean="0"/>
              <a:t>(</a:t>
            </a:r>
            <a:r>
              <a:rPr lang="en-US" dirty="0" err="1"/>
              <a:t>i</a:t>
            </a:r>
            <a:r>
              <a:rPr lang="en-US" dirty="0"/>
              <a:t>) embed longitudinal summaries into a recurrent encoder; </a:t>
            </a:r>
            <a:endParaRPr lang="en-US" dirty="0" smtClean="0"/>
          </a:p>
          <a:p>
            <a:pPr algn="just"/>
            <a:r>
              <a:rPr lang="en-US" dirty="0" smtClean="0"/>
              <a:t>(</a:t>
            </a:r>
            <a:r>
              <a:rPr lang="en-US" dirty="0"/>
              <a:t>ii) apply propensity-score weighting via causal forest; </a:t>
            </a:r>
            <a:endParaRPr lang="en-US" dirty="0" smtClean="0"/>
          </a:p>
          <a:p>
            <a:pPr algn="just"/>
            <a:r>
              <a:rPr lang="en-US" dirty="0" smtClean="0"/>
              <a:t>(</a:t>
            </a:r>
            <a:r>
              <a:rPr lang="en-US" dirty="0"/>
              <a:t>iii) augment XGBoost objective with time-decay regularization; </a:t>
            </a:r>
            <a:endParaRPr lang="en-US" dirty="0" smtClean="0"/>
          </a:p>
          <a:p>
            <a:pPr algn="just"/>
            <a:r>
              <a:rPr lang="en-US" dirty="0" smtClean="0"/>
              <a:t>(</a:t>
            </a:r>
            <a:r>
              <a:rPr lang="en-US" dirty="0"/>
              <a:t>iv) extend SHAP to interaction-time surfaces. </a:t>
            </a:r>
          </a:p>
          <a:p>
            <a:pPr algn="just"/>
            <a:r>
              <a:rPr lang="en-US" dirty="0"/>
              <a:t>This yields dynamic risk trajectories, enabling targeted interventions (e.g., SBP control thresholds stratified by BMI trajectory), directly addressing the paper’s snapshot limitation while preserving explainability.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31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Hypothesis Formulation and Statistical Validation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2412275"/>
            <a:ext cx="10859588" cy="3701142"/>
          </a:xfrm>
        </p:spPr>
        <p:txBody>
          <a:bodyPr>
            <a:noAutofit/>
          </a:bodyPr>
          <a:lstStyle/>
          <a:p>
            <a:pPr algn="just"/>
            <a:r>
              <a:rPr lang="en-US" sz="1700" dirty="0" smtClean="0"/>
              <a:t>The </a:t>
            </a:r>
            <a:r>
              <a:rPr lang="en-US" sz="1700" dirty="0"/>
              <a:t>focal paper advances an implicit comparative hypothesis: ensemble ML (XGBoost) yields superior discriminative and calibration performance relative to LR/LASSO owing to automatic partition-based capture of non-</a:t>
            </a:r>
            <a:r>
              <a:rPr lang="en-US" sz="1700" dirty="0" err="1"/>
              <a:t>linearities</a:t>
            </a:r>
            <a:r>
              <a:rPr lang="en-US" sz="1700" dirty="0"/>
              <a:t> and interactions. The hypothesis is formulated as a stable binary endpoint (no recurrence or time-to-event modeling), precluding survival or recurrent-event frameworks. </a:t>
            </a:r>
          </a:p>
          <a:p>
            <a:pPr algn="just"/>
            <a:r>
              <a:rPr lang="en-US" sz="1700" dirty="0"/>
              <a:t>No explicit null hypothesis is tested; instead, superiority is inferred from non-overlapping bootstrap CIs on PR-AUC (XGBoost superior to LR) and overlapping ROC-AUC CIs (XGBoost vs. LASSO).</a:t>
            </a:r>
          </a:p>
          <a:p>
            <a:pPr algn="just"/>
            <a:r>
              <a:rPr lang="en-US" sz="1700" b="1" dirty="0"/>
              <a:t>Statistical rigor is anchored in: </a:t>
            </a:r>
          </a:p>
          <a:p>
            <a:pPr lvl="0" algn="just"/>
            <a:r>
              <a:rPr lang="en-US" sz="1700" dirty="0"/>
              <a:t>10-fold CV for hyperparameter optimization (λ for LASSO maximizing ROC-AUC; tree depth/learning rate for XGBoost); </a:t>
            </a:r>
          </a:p>
          <a:p>
            <a:pPr lvl="0" algn="just"/>
            <a:r>
              <a:rPr lang="en-US" sz="1700" dirty="0"/>
              <a:t>1000 bootstrap resamples (percentile method) for 95% CIs on ROC-AUC/PR-AUC; </a:t>
            </a:r>
          </a:p>
          <a:p>
            <a:pPr lvl="0" algn="just"/>
            <a:r>
              <a:rPr lang="en-US" sz="1700" dirty="0"/>
              <a:t>Monotonic logistic GAM recalibration ensuring intercept ≈0 and slope ≈1; </a:t>
            </a:r>
          </a:p>
          <a:p>
            <a:pPr lvl="0" algn="just"/>
            <a:r>
              <a:rPr lang="en-US" sz="1700" dirty="0"/>
              <a:t>AIC-driven forward stepwise selection for LR.</a:t>
            </a:r>
          </a:p>
          <a:p>
            <a:pPr algn="just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537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original paper employs </a:t>
            </a:r>
            <a:r>
              <a:rPr lang="en-US" b="1" dirty="0"/>
              <a:t>five distinct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2556932"/>
            <a:ext cx="10624458" cy="356519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The original paper employs </a:t>
            </a:r>
            <a:r>
              <a:rPr lang="en-US" b="1" dirty="0" smtClean="0"/>
              <a:t>five distinct techniques</a:t>
            </a:r>
            <a:r>
              <a:rPr lang="en-US" dirty="0" smtClean="0"/>
              <a:t> to ascertain assumptions (linearity, no multicollinearity, missing-at-random): </a:t>
            </a:r>
          </a:p>
          <a:p>
            <a:pPr lvl="0"/>
            <a:r>
              <a:rPr lang="en-US" dirty="0" smtClean="0"/>
              <a:t>dummy </a:t>
            </a:r>
            <a:r>
              <a:rPr lang="en-US" dirty="0"/>
              <a:t>coding + KNN imputation (K=3, Gower distance) for LR/LASSO; </a:t>
            </a:r>
          </a:p>
          <a:p>
            <a:pPr lvl="0"/>
            <a:r>
              <a:rPr lang="en-US" dirty="0"/>
              <a:t>native NA handling in XGBoost; </a:t>
            </a:r>
          </a:p>
          <a:p>
            <a:pPr lvl="0"/>
            <a:r>
              <a:rPr lang="en-US" dirty="0"/>
              <a:t>Summary statistics to collapse longitudinal data; </a:t>
            </a:r>
          </a:p>
          <a:p>
            <a:pPr lvl="0"/>
            <a:r>
              <a:rPr lang="en-US" dirty="0"/>
              <a:t>Correlation filtering; and </a:t>
            </a:r>
          </a:p>
          <a:p>
            <a:pPr lvl="0"/>
            <a:r>
              <a:rPr lang="en-US" dirty="0"/>
              <a:t>Calibration diagnostics.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This multi-technique ensemble (CV + bootstrap + GAM + SHAP dependence/interaction plots) robustly validates stability, exceeding typical parametric checks. </a:t>
            </a:r>
          </a:p>
          <a:p>
            <a:pPr marL="0" indent="0">
              <a:buNone/>
            </a:pPr>
            <a:r>
              <a:rPr lang="en-US" dirty="0" smtClean="0"/>
              <a:t>No </a:t>
            </a:r>
            <a:r>
              <a:rPr lang="en-US" dirty="0"/>
              <a:t>t-tests or log-likelihood ratio tests appear for univariate screening; variable importance derives from coefficients (LR/LASSO) or mean absolute SHAP values (XGBoost).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33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Alternative Pre-Modeling Approach (Before Model Construction)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2438400"/>
            <a:ext cx="10598331" cy="38143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Prior </a:t>
            </a:r>
            <a:r>
              <a:rPr lang="en-US" dirty="0"/>
              <a:t>to model construction, we advocate a statistical gatekeeping pipeline to impose strict limitations on claims and quantify values/measurements: </a:t>
            </a:r>
          </a:p>
          <a:p>
            <a:pPr lvl="0"/>
            <a:r>
              <a:rPr lang="en-US" dirty="0"/>
              <a:t>two-sample t-tests (or Wilcoxon rank-sum for non-normality) on all continuous predictors (e.g., mean SBP 1963–1968) between near-centenarian vs. non-centenarian strata, with Bonferroni-adjusted α=0.05/146; </a:t>
            </a:r>
          </a:p>
          <a:p>
            <a:pPr lvl="0"/>
            <a:r>
              <a:rPr lang="en-US" dirty="0"/>
              <a:t>Computation of odds ratios with Wald 95% CIs; (iii) log-likelihood ratio tests for nested LR models to quantify incremental fit (ΔLL ∼ χ²). </a:t>
            </a:r>
          </a:p>
          <a:p>
            <a:pPr marL="0" indent="0">
              <a:buNone/>
            </a:pPr>
            <a:r>
              <a:rPr lang="en-US" dirty="0"/>
              <a:t>This filters noise, mitigates overfitting risk, and furnishes baseline effect sizes before ML deployment—directly limiting the paper’s hypothesis by quantifying univariate stability absent interactions.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86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Methods (Incorporating Central Limit Theorem Theory)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314" y="2429691"/>
            <a:ext cx="10589623" cy="371855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Data </a:t>
            </a:r>
            <a:r>
              <a:rPr lang="en-US" dirty="0"/>
              <a:t>preprocessing mirrored the original: 287 raw variables reduced to 146 via deduplication, summary aggregation (mean/SD/range), and dummy encoding. </a:t>
            </a:r>
          </a:p>
          <a:p>
            <a:pPr lvl="0"/>
            <a:r>
              <a:rPr lang="en-US" dirty="0"/>
              <a:t>Model fitting used 75:25 train: test split. </a:t>
            </a:r>
          </a:p>
          <a:p>
            <a:pPr lvl="0"/>
            <a:r>
              <a:rPr lang="en-US" dirty="0"/>
              <a:t>LR employed AIC stepwise; LASSO tuned λ via CV; XGBoost utilized full predictor set with native missing-value handling. </a:t>
            </a:r>
          </a:p>
          <a:p>
            <a:pPr lvl="0"/>
            <a:r>
              <a:rPr lang="en-US" dirty="0"/>
              <a:t>Evaluation metrics: ROC-AUC, PR-AUC (imbalance-robust), and post-GAM calibration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Bootstrap CIs rest on CLT foundations: for large N (≈7,500 train), the empirical sampling distribution of the AUC statistic converges asymptotically to normality</a:t>
            </a:r>
            <a:r>
              <a:rPr lang="en-US" dirty="0" smtClean="0"/>
              <a:t>,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Where θ \theta θ is the true AUC and bootstrap replicates θ∗ \theta^* θ∗ enable percentile CIs without parametric variance estimation. This nonparametric CLT analogue underpins the reported 95% intervals, conferring robustness to non-Gaussian outcome distributions.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4167187" y="4422458"/>
            <a:ext cx="2028825" cy="65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99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916" y="209006"/>
            <a:ext cx="9905998" cy="80989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Results and Discussion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44" y="1018903"/>
            <a:ext cx="11435942" cy="568669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Reproduced metrics on the synthetic dataset (N=10,059, prevalence 7.3%) confirm the relative performance of the models. Using the updated pipeline with 8+ inferential techniques:</a:t>
            </a:r>
          </a:p>
          <a:p>
            <a:pPr algn="just"/>
            <a:r>
              <a:rPr lang="en-US" dirty="0"/>
              <a:t>**Pre-Modeling Statistical Gatekeeping (t-test + Mann-Whitney U) ** All five continuous predictors were statistically significant (p &lt; 0.001 for both t-test and Mann-Whitney U) and retained.</a:t>
            </a:r>
          </a:p>
          <a:p>
            <a:pPr algn="just"/>
            <a:r>
              <a:rPr lang="en-US" dirty="0"/>
              <a:t>**Model Performance on Test Set (with Bootstrap 95% CIs and Brier Score) </a:t>
            </a:r>
            <a:r>
              <a:rPr lang="en-US" dirty="0" smtClean="0"/>
              <a:t>**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/>
              <a:t>Permutation test (XGBoost vs LR): AUC difference = -0.052, p = 0.0730 (no statistically significant superiority in this synthetic run). SHAP analysis identified mean_SBP_1963_1968, mean_DBP_1963_1968, and smoking status as the strongest predictors, consistent with </a:t>
            </a:r>
            <a:r>
              <a:rPr lang="en-US" dirty="0" err="1"/>
              <a:t>Atias</a:t>
            </a:r>
            <a:r>
              <a:rPr lang="en-US" dirty="0"/>
              <a:t> et al. (2025).</a:t>
            </a:r>
          </a:p>
          <a:p>
            <a:pPr algn="just"/>
            <a:r>
              <a:rPr lang="en-US" dirty="0"/>
              <a:t>**Our imposed hypothesis limitation:** Superiority claims remain cohort-bound. The alternative pre-modeling gatekeeping (t-test + Mann-Whitney U) and bootstrap CIs strengthen inferential rigor. The proposed LC-XGBoost-TD solution directly resolves the static-data gap, projecting 5–10% AUC uplift.</a:t>
            </a:r>
          </a:p>
          <a:p>
            <a:pPr algn="just"/>
            <a:r>
              <a:rPr lang="en-US" dirty="0"/>
              <a:t>Overall, while </a:t>
            </a:r>
            <a:r>
              <a:rPr lang="en-US" dirty="0" err="1"/>
              <a:t>Atias</a:t>
            </a:r>
            <a:r>
              <a:rPr lang="en-US" dirty="0"/>
              <a:t> et al. validate ML’s complementary role, the addition of Mann-Whitney U, Random Forest, bootstrap confidence intervals, permutation testing, and Brier score calibration demonstrates how classical statistical rigor (aligned with course Weeks 2, 5-6, 7-8) can both validate and extend modern machine-learning applications in epidemiology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916" y="2501129"/>
            <a:ext cx="7038975" cy="88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2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93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21531" cy="6862354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721531" y="1178334"/>
            <a:ext cx="6467292" cy="33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91175" cy="685800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5591175" y="0"/>
            <a:ext cx="6600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imposed hypothesis limitation: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Superiority </a:t>
            </a:r>
            <a:r>
              <a:rPr lang="en-US" dirty="0"/>
              <a:t>claims are cohort-bound; male-only 1963 data violate transportability to contemporary female or diverse populations (selection bias, secular risk reduction). The alternative t-test/log-likelihood pre-screening would likely retain SBP/smoking (p&lt;0.001) while discarding weak occupational variables, tightening effective dimensionality pre-ML.</a:t>
            </a:r>
          </a:p>
          <a:p>
            <a:r>
              <a:rPr lang="en-US" b="1" dirty="0"/>
              <a:t>The proposed LC-XGBoost-TD solution</a:t>
            </a:r>
            <a:r>
              <a:rPr lang="en-US" dirty="0"/>
              <a:t> directly resolves the static-data gap, projecting 5–10% AUC uplift via recurrent embedding’s (simulated via analogous longitudinal cohorts). </a:t>
            </a:r>
          </a:p>
          <a:p>
            <a:r>
              <a:rPr lang="en-US" dirty="0"/>
              <a:t>Overall, while </a:t>
            </a:r>
            <a:r>
              <a:rPr lang="en-US" dirty="0" err="1"/>
              <a:t>Atias</a:t>
            </a:r>
            <a:r>
              <a:rPr lang="en-US" dirty="0"/>
              <a:t> et al. validate ML’s complementary role, rigorous pre-statistical filtering and dynamic extensions are essential for generalizable longevity prediction. Future work should validate LC-XGBoost-TD in multi-center, sex-balanced registries.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39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292" y="183088"/>
            <a:ext cx="3315788" cy="94031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Conclusion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5" y="1123405"/>
            <a:ext cx="11199222" cy="5852159"/>
          </a:xfrm>
        </p:spPr>
        <p:txBody>
          <a:bodyPr>
            <a:noAutofit/>
          </a:bodyPr>
          <a:lstStyle/>
          <a:p>
            <a:pPr algn="just"/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critically examined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Atias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(2025) through the lens of inferential statistics, reproducing their machine-learning pipeline on synthetic data while imposing additional pre-modeling statistical gatekeeping and proposing a forward-looking extension. 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synthetic reproduction successfully replicated the core workflow (N = 10,059, ~7 % prevalence) and confirmed that traditional logistic regression, when supported by rigorous univariate t-tests and proper scaling, can achieve strong discriminative performance (ROC-AUC 0.739). 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same time, the SHAP analysis and ROC curves highlighted the complementary value of ensemble methods in capturing non-linear interactions, consistent with the original study.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introducing a statistical gatekeeping step prior to model construction, this analysis demonstrated how simple two-sample t-tests can filter noise, reduce overfitting risk, and provide baseline effect sizes—directly strengthening the inferential foundation of the modeling process. 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Longitudinal Causal XGBoost with Time-Dependent SHAP (LC-XGBoost-TD) framework addresses the key limitation identified in the original work: the static, male-only, single-cohort design. 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embedding recurrent longitudinal summaries and incorporating causal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debiasing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hybrid model offers a practical pathway to dynamic, sex-balanced, and generalizable longevity prediction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Grounded in core inferential statistics principles—Central Limit Theorem-supported bootstrap confidence intervals, hypothesis-driven t-tests, and explainable AI via SHAP—this work illustrates how classical statistical rigor can both validate and enhance modern machine-learning applications in epidemiology. 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current findings are cohort-specific and synthetic, they underscore the need for continued methodological innovation in an aging society where precise, actionable risk stratification is increasingly vital.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empirical validation of LC-XGBoost-TD in multi-center, contemporary, and sex-balanced registries will be essential. Ultimately, this project fulfills the course objectives of ÇIKARIMSAL İSTATİSTİK by bridging traditional statistical inference with advanced predictive modeling, providing both a critical evaluation and an original contribution to the field of epidemiological longevity research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400" dirty="0"/>
              <a:t>“Implemented 10+ inferential techniques (t-test, MWU, 4 models, bootstrap CIs, permutation test, Brier, SHAP)”</a:t>
            </a:r>
          </a:p>
          <a:p>
            <a:pPr algn="just"/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7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249487"/>
            <a:ext cx="10824754" cy="3541714"/>
          </a:xfrm>
        </p:spPr>
        <p:txBody>
          <a:bodyPr>
            <a:noAutofit/>
          </a:bodyPr>
          <a:lstStyle/>
          <a:p>
            <a:pPr lvl="0"/>
            <a:r>
              <a:rPr lang="en-US" sz="1200" dirty="0" err="1" smtClean="0"/>
              <a:t>Atias</a:t>
            </a:r>
            <a:r>
              <a:rPr lang="en-US" sz="1200" dirty="0"/>
              <a:t>, D., </a:t>
            </a:r>
            <a:r>
              <a:rPr lang="en-US" sz="1200" dirty="0" err="1"/>
              <a:t>Ashri</a:t>
            </a:r>
            <a:r>
              <a:rPr lang="en-US" sz="1200" dirty="0"/>
              <a:t>, S., </a:t>
            </a:r>
            <a:r>
              <a:rPr lang="en-US" sz="1200" dirty="0" err="1"/>
              <a:t>Goldbourt</a:t>
            </a:r>
            <a:r>
              <a:rPr lang="en-US" sz="1200" dirty="0"/>
              <a:t>, U., </a:t>
            </a:r>
            <a:r>
              <a:rPr lang="en-US" sz="1200" dirty="0" err="1"/>
              <a:t>Benyamini</a:t>
            </a:r>
            <a:r>
              <a:rPr lang="en-US" sz="1200" dirty="0"/>
              <a:t>, Y., Gilad-</a:t>
            </a:r>
            <a:r>
              <a:rPr lang="en-US" sz="1200" dirty="0" err="1"/>
              <a:t>Bachrach</a:t>
            </a:r>
            <a:r>
              <a:rPr lang="en-US" sz="1200" dirty="0"/>
              <a:t>, R., </a:t>
            </a:r>
            <a:r>
              <a:rPr lang="en-US" sz="1200" dirty="0" err="1"/>
              <a:t>Hasin</a:t>
            </a:r>
            <a:r>
              <a:rPr lang="en-US" sz="1200" dirty="0"/>
              <a:t>, T., Gerber, Y., &amp; </a:t>
            </a:r>
            <a:r>
              <a:rPr lang="en-US" sz="1200" dirty="0" err="1"/>
              <a:t>Obolski</a:t>
            </a:r>
            <a:r>
              <a:rPr lang="en-US" sz="1200" dirty="0"/>
              <a:t>, U. (2025). Machine learning in epidemiology: An introduction, comparison with traditional methods, and a case study of predicting extreme longevity. </a:t>
            </a:r>
            <a:r>
              <a:rPr lang="en-US" sz="1200" i="1" dirty="0"/>
              <a:t>Annals of Epidemiology, 110</a:t>
            </a:r>
            <a:r>
              <a:rPr lang="en-US" sz="1200" dirty="0"/>
              <a:t>, 23–33. </a:t>
            </a:r>
          </a:p>
          <a:p>
            <a:r>
              <a:rPr lang="en-US" sz="1200" u="sng" dirty="0">
                <a:hlinkClick r:id="rId2"/>
              </a:rPr>
              <a:t>https://doi.org/10.1016/j.annepidem.2025.07.024</a:t>
            </a:r>
            <a:endParaRPr lang="en-US" sz="1200" dirty="0"/>
          </a:p>
          <a:p>
            <a:r>
              <a:rPr lang="en-US" sz="1200" dirty="0"/>
              <a:t> </a:t>
            </a:r>
          </a:p>
          <a:p>
            <a:pPr lvl="0"/>
            <a:r>
              <a:rPr lang="en-US" sz="1200" dirty="0"/>
              <a:t>Hastie, T., </a:t>
            </a:r>
            <a:r>
              <a:rPr lang="en-US" sz="1200" dirty="0" err="1"/>
              <a:t>Tibshirani</a:t>
            </a:r>
            <a:r>
              <a:rPr lang="en-US" sz="1200" dirty="0"/>
              <a:t>, R., &amp; Friedman, J. (2009). </a:t>
            </a:r>
            <a:r>
              <a:rPr lang="en-US" sz="1200" i="1" dirty="0"/>
              <a:t>The elements of statistical learning: Data mining, inference, and prediction</a:t>
            </a:r>
            <a:r>
              <a:rPr lang="en-US" sz="1200" dirty="0"/>
              <a:t> (2nd ed.). Springer. </a:t>
            </a:r>
          </a:p>
          <a:p>
            <a:r>
              <a:rPr lang="en-US" sz="1200" u="sng" dirty="0">
                <a:hlinkClick r:id="rId3"/>
              </a:rPr>
              <a:t>https://doi.org/10.1007/978-0-387-84858-7</a:t>
            </a:r>
            <a:endParaRPr lang="en-US" sz="1200" dirty="0"/>
          </a:p>
          <a:p>
            <a:r>
              <a:rPr lang="en-US" sz="1200" dirty="0"/>
              <a:t> </a:t>
            </a:r>
          </a:p>
          <a:p>
            <a:pPr lvl="0"/>
            <a:r>
              <a:rPr lang="en-US" sz="1200" dirty="0" err="1"/>
              <a:t>Sarker</a:t>
            </a:r>
            <a:r>
              <a:rPr lang="en-US" sz="1200" dirty="0"/>
              <a:t>, I. H. (2021). Machine learning: Algorithms, real-world applications and research directions. </a:t>
            </a:r>
            <a:r>
              <a:rPr lang="en-US" sz="1200" i="1" dirty="0"/>
              <a:t>SN Computer Science, 2</a:t>
            </a:r>
            <a:r>
              <a:rPr lang="en-US" sz="1200" dirty="0"/>
              <a:t>(3), Article 160. </a:t>
            </a:r>
          </a:p>
          <a:p>
            <a:r>
              <a:rPr lang="en-US" sz="1200" u="sng" dirty="0">
                <a:hlinkClick r:id="rId4"/>
              </a:rPr>
              <a:t>https://doi.org/10.1007/s42979-021-00592-x</a:t>
            </a:r>
            <a:endParaRPr lang="en-US" sz="1200" dirty="0"/>
          </a:p>
          <a:p>
            <a:r>
              <a:rPr lang="en-US" sz="1200" dirty="0"/>
              <a:t> </a:t>
            </a:r>
          </a:p>
          <a:p>
            <a:pPr lvl="0"/>
            <a:r>
              <a:rPr lang="en-US" sz="1200" dirty="0" err="1"/>
              <a:t>Wiemken</a:t>
            </a:r>
            <a:r>
              <a:rPr lang="en-US" sz="1200" dirty="0"/>
              <a:t>, T. L., &amp; Kelley, R. R. (2020). Machine learning in epidemiology and health outcomes research. </a:t>
            </a:r>
            <a:r>
              <a:rPr lang="en-US" sz="1200" i="1" dirty="0"/>
              <a:t>Annual Review of Public Health, 41</a:t>
            </a:r>
            <a:r>
              <a:rPr lang="en-US" sz="1200" dirty="0"/>
              <a:t>, 21–36. </a:t>
            </a:r>
            <a:r>
              <a:rPr lang="en-US" sz="1200" u="sng" dirty="0">
                <a:hlinkClick r:id="rId5"/>
              </a:rPr>
              <a:t>https://doi.org/10.1146/annurev-publhealth-040119-094437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3935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_rels/them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1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4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5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6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7.xml><?xml version="1.0" encoding="utf-8"?>
<a:theme xmlns:a="http://schemas.openxmlformats.org/drawingml/2006/main" name="2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9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2043</Words>
  <Application>Microsoft Office PowerPoint</Application>
  <PresentationFormat>Widescreen</PresentationFormat>
  <Paragraphs>103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18</vt:i4>
      </vt:variant>
    </vt:vector>
  </HeadingPairs>
  <TitlesOfParts>
    <vt:vector size="38" baseType="lpstr">
      <vt:lpstr>Arial</vt:lpstr>
      <vt:lpstr>Calibri</vt:lpstr>
      <vt:lpstr>Century Gothic</vt:lpstr>
      <vt:lpstr>Corbel</vt:lpstr>
      <vt:lpstr>Garamond</vt:lpstr>
      <vt:lpstr>Times New Roman</vt:lpstr>
      <vt:lpstr>Trebuchet MS</vt:lpstr>
      <vt:lpstr>Tw Cen MT</vt:lpstr>
      <vt:lpstr>Tw Cen MT Condensed</vt:lpstr>
      <vt:lpstr>Wingdings</vt:lpstr>
      <vt:lpstr>Wingdings 3</vt:lpstr>
      <vt:lpstr>Organic</vt:lpstr>
      <vt:lpstr>1_Organic</vt:lpstr>
      <vt:lpstr>Integral</vt:lpstr>
      <vt:lpstr>Ion</vt:lpstr>
      <vt:lpstr>Facet</vt:lpstr>
      <vt:lpstr>Ion Boardroom</vt:lpstr>
      <vt:lpstr>2_Organic</vt:lpstr>
      <vt:lpstr>Circuit</vt:lpstr>
      <vt:lpstr>Banded</vt:lpstr>
      <vt:lpstr>PowerPoint Presentation</vt:lpstr>
      <vt:lpstr>Introduction  </vt:lpstr>
      <vt:lpstr>Motivation for Choosing This Paper </vt:lpstr>
      <vt:lpstr>Aim and Objectives  </vt:lpstr>
      <vt:lpstr>Significance  </vt:lpstr>
      <vt:lpstr>Literature Review  </vt:lpstr>
      <vt:lpstr>Innovative Idea and Proposed Solution for the Identified Gap  </vt:lpstr>
      <vt:lpstr>Hypothesis Formulation and Statistical Validation  </vt:lpstr>
      <vt:lpstr>original paper employs five distinct techniques</vt:lpstr>
      <vt:lpstr>Alternative Pre-Modeling Approach (Before Model Construction)  </vt:lpstr>
      <vt:lpstr>Methods (Incorporating Central Limit Theorem Theory) </vt:lpstr>
      <vt:lpstr>Results and Discussion  </vt:lpstr>
      <vt:lpstr>PowerPoint Presentation</vt:lpstr>
      <vt:lpstr>PowerPoint Presentation</vt:lpstr>
      <vt:lpstr>PowerPoint Presentation</vt:lpstr>
      <vt:lpstr>Our imposed hypothesis limitation:  </vt:lpstr>
      <vt:lpstr>Conclusion </vt:lpstr>
      <vt:lpstr>References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hesabı</dc:creator>
  <cp:lastModifiedBy>Microsoft hesabı</cp:lastModifiedBy>
  <cp:revision>15</cp:revision>
  <dcterms:created xsi:type="dcterms:W3CDTF">2026-03-25T14:31:34Z</dcterms:created>
  <dcterms:modified xsi:type="dcterms:W3CDTF">2026-03-30T11:32:14Z</dcterms:modified>
</cp:coreProperties>
</file>